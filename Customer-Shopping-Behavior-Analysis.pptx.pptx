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07261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Customer Shopping Behavior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56787"/>
            <a:ext cx="944552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Uncovering spending patterns, customer segments, product preferences, and subscription behavior from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3,900 transactions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to guide strategic business decisions.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78178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Dataset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334788"/>
            <a:ext cx="7974511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3,900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7391" y="448166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Transactions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028009"/>
            <a:ext cx="797451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Rows of purchase data analyzed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1108" y="3334788"/>
            <a:ext cx="797465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6413" y="448166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5028009"/>
            <a:ext cx="797465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Columns covering demographics, purchases &amp; behavior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399905"/>
            <a:ext cx="7974511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7391" y="754677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Categories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093126"/>
            <a:ext cx="797451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Clothing, Accessories, Footwear, Outerwear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108" y="6399905"/>
            <a:ext cx="797465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36413" y="754677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Missing Values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8093126"/>
            <a:ext cx="797465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 Review Rating column only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199702"/>
            <a:ext cx="908015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Data Preparation in 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463251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011834"/>
            <a:ext cx="4580934" cy="38100"/>
            <a:chOff x="0" y="0"/>
            <a:chExt cx="6107913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07938" cy="50800"/>
            </a:xfrm>
            <a:custGeom>
              <a:avLst/>
              <a:gdLst/>
              <a:ahLst/>
              <a:cxnLst/>
              <a:rect r="r" b="b" t="t" l="l"/>
              <a:pathLst>
                <a:path h="50800" w="6107938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319161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Load &amp; Explore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3737972"/>
            <a:ext cx="4580934" cy="148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Imported dataset with pandas; used df.info() and .describe() for structure review.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56684" y="2463251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6684" y="3011834"/>
            <a:ext cx="4581077" cy="38100"/>
            <a:chOff x="0" y="0"/>
            <a:chExt cx="6108103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08065" cy="50800"/>
            </a:xfrm>
            <a:custGeom>
              <a:avLst/>
              <a:gdLst/>
              <a:ahLst/>
              <a:cxnLst/>
              <a:rect r="r" b="b" t="t" l="l"/>
              <a:pathLst>
                <a:path h="50800" w="6108065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856684" y="319161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Clean &amp; Engineer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56684" y="3737972"/>
            <a:ext cx="4581077" cy="239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Imputed missing Review Ratings with category median; created age_group and purchase_frequency_days columns.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521206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7069779"/>
            <a:ext cx="9445523" cy="38100"/>
            <a:chOff x="0" y="0"/>
            <a:chExt cx="12594031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2238" y="724956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Standardize &amp; Load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7795917"/>
            <a:ext cx="9445523" cy="102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Renamed columns to snake_case; dropped redundant promo_code_used; loaded into PostgreSQL.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961"/>
            <a:ext cx="938138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Revenue &amp; Spending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203229"/>
            <a:ext cx="7805890" cy="4616796"/>
            <a:chOff x="0" y="0"/>
            <a:chExt cx="10407853" cy="61557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6155690"/>
            </a:xfrm>
            <a:custGeom>
              <a:avLst/>
              <a:gdLst/>
              <a:ahLst/>
              <a:cxnLst/>
              <a:rect r="r" b="b" t="t" l="l"/>
              <a:pathLst>
                <a:path h="615569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6155690"/>
                  </a:lnTo>
                  <a:lnTo>
                    <a:pt x="0" y="6155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99397" y="312970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3789464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Male customers generated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$157,890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vs.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$75,191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for female customers — more than double the revenue.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4951809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Express shipping users spend slightly more (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$60.48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) than Standard shipping users (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$58.46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), suggesting a premium-buyer profile.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397" y="6736404"/>
            <a:ext cx="7805890" cy="1658388"/>
            <a:chOff x="0" y="0"/>
            <a:chExt cx="10407853" cy="2211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777" cy="2211070"/>
            </a:xfrm>
            <a:custGeom>
              <a:avLst/>
              <a:gdLst/>
              <a:ahLst/>
              <a:cxnLst/>
              <a:rect r="r" b="b" t="t" l="l"/>
              <a:pathLst>
                <a:path h="2211070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052320"/>
                  </a:lnTo>
                  <a:cubicBezTo>
                    <a:pt x="10407777" y="2140077"/>
                    <a:pt x="10336657" y="2211070"/>
                    <a:pt x="10249027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82918" y="7166524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20798" y="6985997"/>
            <a:ext cx="66009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839 discount users still spent </a:t>
            </a: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above average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discounts don't always reduce basket size.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799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Top-Rated Products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590505"/>
            <a:ext cx="7815415" cy="4953591"/>
            <a:chOff x="0" y="0"/>
            <a:chExt cx="10420553" cy="66047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20477" cy="6604762"/>
            </a:xfrm>
            <a:custGeom>
              <a:avLst/>
              <a:gdLst/>
              <a:ahLst/>
              <a:cxnLst/>
              <a:rect r="r" b="b" t="t" l="l"/>
              <a:pathLst>
                <a:path h="6604762" w="10420477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10255250" y="0"/>
                  </a:lnTo>
                  <a:lnTo>
                    <a:pt x="10255250" y="6350"/>
                  </a:lnTo>
                  <a:lnTo>
                    <a:pt x="10255250" y="0"/>
                  </a:lnTo>
                  <a:cubicBezTo>
                    <a:pt x="10346563" y="0"/>
                    <a:pt x="10420477" y="73914"/>
                    <a:pt x="10420477" y="165100"/>
                  </a:cubicBezTo>
                  <a:lnTo>
                    <a:pt x="10414127" y="165100"/>
                  </a:lnTo>
                  <a:lnTo>
                    <a:pt x="10420477" y="165100"/>
                  </a:lnTo>
                  <a:lnTo>
                    <a:pt x="10420477" y="6439662"/>
                  </a:lnTo>
                  <a:lnTo>
                    <a:pt x="10414127" y="6439662"/>
                  </a:lnTo>
                  <a:lnTo>
                    <a:pt x="10420477" y="6439662"/>
                  </a:lnTo>
                  <a:cubicBezTo>
                    <a:pt x="10420477" y="6530848"/>
                    <a:pt x="10346436" y="6604762"/>
                    <a:pt x="10255250" y="6604762"/>
                  </a:cubicBezTo>
                  <a:lnTo>
                    <a:pt x="10255250" y="6598412"/>
                  </a:lnTo>
                  <a:lnTo>
                    <a:pt x="10255250" y="6604762"/>
                  </a:lnTo>
                  <a:lnTo>
                    <a:pt x="165227" y="6604762"/>
                  </a:lnTo>
                  <a:lnTo>
                    <a:pt x="165227" y="6598412"/>
                  </a:lnTo>
                  <a:lnTo>
                    <a:pt x="165227" y="6604762"/>
                  </a:lnTo>
                  <a:cubicBezTo>
                    <a:pt x="73914" y="6604762"/>
                    <a:pt x="0" y="6530848"/>
                    <a:pt x="0" y="64396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439662"/>
                  </a:lnTo>
                  <a:lnTo>
                    <a:pt x="6350" y="6439662"/>
                  </a:lnTo>
                  <a:lnTo>
                    <a:pt x="12700" y="6439662"/>
                  </a:lnTo>
                  <a:cubicBezTo>
                    <a:pt x="12700" y="6523863"/>
                    <a:pt x="81026" y="6592062"/>
                    <a:pt x="165227" y="6592062"/>
                  </a:cubicBezTo>
                  <a:lnTo>
                    <a:pt x="10255250" y="6592062"/>
                  </a:lnTo>
                  <a:cubicBezTo>
                    <a:pt x="10339451" y="6592062"/>
                    <a:pt x="10407777" y="6523863"/>
                    <a:pt x="10407777" y="6439662"/>
                  </a:cubicBezTo>
                  <a:lnTo>
                    <a:pt x="10407777" y="165100"/>
                  </a:lnTo>
                  <a:cubicBezTo>
                    <a:pt x="10407777" y="80899"/>
                    <a:pt x="10339451" y="12700"/>
                    <a:pt x="1025525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85427" y="267964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Product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3534" y="267964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Avg. Rating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427" y="350207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Gloves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3534" y="350207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3.86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427" y="4324502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Sandals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83534" y="4324502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3.84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427" y="514691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Boots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83534" y="514691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3.82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427" y="596934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83534" y="596934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3.80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427" y="6791773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Skirt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3534" y="6791773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3.78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397" y="2521744"/>
            <a:ext cx="499898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Discount-Dependent Products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9397" y="3181502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These items had the highest share of discounted purchases: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94634" y="4054078"/>
            <a:ext cx="7815415" cy="4953591"/>
            <a:chOff x="0" y="0"/>
            <a:chExt cx="10420553" cy="66047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20477" cy="6604762"/>
            </a:xfrm>
            <a:custGeom>
              <a:avLst/>
              <a:gdLst/>
              <a:ahLst/>
              <a:cxnLst/>
              <a:rect r="r" b="b" t="t" l="l"/>
              <a:pathLst>
                <a:path h="6604762" w="10420477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10255250" y="0"/>
                  </a:lnTo>
                  <a:lnTo>
                    <a:pt x="10255250" y="6350"/>
                  </a:lnTo>
                  <a:lnTo>
                    <a:pt x="10255250" y="0"/>
                  </a:lnTo>
                  <a:cubicBezTo>
                    <a:pt x="10346563" y="0"/>
                    <a:pt x="10420477" y="73914"/>
                    <a:pt x="10420477" y="165100"/>
                  </a:cubicBezTo>
                  <a:lnTo>
                    <a:pt x="10414127" y="165100"/>
                  </a:lnTo>
                  <a:lnTo>
                    <a:pt x="10420477" y="165100"/>
                  </a:lnTo>
                  <a:lnTo>
                    <a:pt x="10420477" y="6439662"/>
                  </a:lnTo>
                  <a:lnTo>
                    <a:pt x="10414127" y="6439662"/>
                  </a:lnTo>
                  <a:lnTo>
                    <a:pt x="10420477" y="6439662"/>
                  </a:lnTo>
                  <a:cubicBezTo>
                    <a:pt x="10420477" y="6530848"/>
                    <a:pt x="10346436" y="6604762"/>
                    <a:pt x="10255250" y="6604762"/>
                  </a:cubicBezTo>
                  <a:lnTo>
                    <a:pt x="10255250" y="6598412"/>
                  </a:lnTo>
                  <a:lnTo>
                    <a:pt x="10255250" y="6604762"/>
                  </a:lnTo>
                  <a:lnTo>
                    <a:pt x="165227" y="6604762"/>
                  </a:lnTo>
                  <a:lnTo>
                    <a:pt x="165227" y="6598412"/>
                  </a:lnTo>
                  <a:lnTo>
                    <a:pt x="165227" y="6604762"/>
                  </a:lnTo>
                  <a:cubicBezTo>
                    <a:pt x="73914" y="6604762"/>
                    <a:pt x="0" y="6530848"/>
                    <a:pt x="0" y="64396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439662"/>
                  </a:lnTo>
                  <a:lnTo>
                    <a:pt x="6350" y="6439662"/>
                  </a:lnTo>
                  <a:lnTo>
                    <a:pt x="12700" y="6439662"/>
                  </a:lnTo>
                  <a:cubicBezTo>
                    <a:pt x="12700" y="6523863"/>
                    <a:pt x="81026" y="6592062"/>
                    <a:pt x="165227" y="6592062"/>
                  </a:cubicBezTo>
                  <a:lnTo>
                    <a:pt x="10255250" y="6592062"/>
                  </a:lnTo>
                  <a:cubicBezTo>
                    <a:pt x="10339451" y="6592062"/>
                    <a:pt x="10407777" y="6523863"/>
                    <a:pt x="10407777" y="6439662"/>
                  </a:cubicBezTo>
                  <a:lnTo>
                    <a:pt x="10407777" y="165100"/>
                  </a:lnTo>
                  <a:cubicBezTo>
                    <a:pt x="10407777" y="80899"/>
                    <a:pt x="10339451" y="12700"/>
                    <a:pt x="1025525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92595" y="4143223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Product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90702" y="4143223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Discount Rate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92595" y="496564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90702" y="496564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50.00%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92595" y="578807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Sneakers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90702" y="578807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49.66%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2595" y="6610502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Coat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90702" y="6610502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49.07%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92595" y="743291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Sweater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90702" y="7432919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48.17%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92595" y="825534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90702" y="8255346"/>
            <a:ext cx="33215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47.37%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961"/>
            <a:ext cx="8058150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Customer Segmentation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298479"/>
            <a:ext cx="7805890" cy="4521698"/>
            <a:chOff x="0" y="0"/>
            <a:chExt cx="10407853" cy="60289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6028944"/>
            </a:xfrm>
            <a:custGeom>
              <a:avLst/>
              <a:gdLst/>
              <a:ahLst/>
              <a:cxnLst/>
              <a:rect r="r" b="b" t="t" l="l"/>
              <a:pathLst>
                <a:path h="6028944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6028944"/>
                  </a:lnTo>
                  <a:lnTo>
                    <a:pt x="0" y="602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35788" y="5105695"/>
            <a:ext cx="1017832" cy="215208"/>
            <a:chOff x="0" y="0"/>
            <a:chExt cx="1357109" cy="286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344422" cy="274320"/>
            </a:xfrm>
            <a:custGeom>
              <a:avLst/>
              <a:gdLst/>
              <a:ahLst/>
              <a:cxnLst/>
              <a:rect r="r" b="b" t="t" l="l"/>
              <a:pathLst>
                <a:path h="274320" w="1344422">
                  <a:moveTo>
                    <a:pt x="0" y="137160"/>
                  </a:moveTo>
                  <a:cubicBezTo>
                    <a:pt x="0" y="61341"/>
                    <a:pt x="63627" y="0"/>
                    <a:pt x="142113" y="0"/>
                  </a:cubicBezTo>
                  <a:lnTo>
                    <a:pt x="1202309" y="0"/>
                  </a:lnTo>
                  <a:cubicBezTo>
                    <a:pt x="1280795" y="0"/>
                    <a:pt x="1344422" y="61341"/>
                    <a:pt x="1344422" y="137160"/>
                  </a:cubicBezTo>
                  <a:cubicBezTo>
                    <a:pt x="1344422" y="212979"/>
                    <a:pt x="1280795" y="274320"/>
                    <a:pt x="1202309" y="274320"/>
                  </a:cubicBezTo>
                  <a:lnTo>
                    <a:pt x="142113" y="274320"/>
                  </a:lnTo>
                  <a:cubicBezTo>
                    <a:pt x="63627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7122" cy="287020"/>
            </a:xfrm>
            <a:custGeom>
              <a:avLst/>
              <a:gdLst/>
              <a:ahLst/>
              <a:cxnLst/>
              <a:rect r="r" b="b" t="t" l="l"/>
              <a:pathLst>
                <a:path h="287020" w="1357122">
                  <a:moveTo>
                    <a:pt x="0" y="143510"/>
                  </a:moveTo>
                  <a:cubicBezTo>
                    <a:pt x="0" y="64008"/>
                    <a:pt x="66675" y="0"/>
                    <a:pt x="148463" y="0"/>
                  </a:cubicBezTo>
                  <a:lnTo>
                    <a:pt x="1208659" y="0"/>
                  </a:lnTo>
                  <a:lnTo>
                    <a:pt x="1208659" y="6350"/>
                  </a:lnTo>
                  <a:lnTo>
                    <a:pt x="1208659" y="0"/>
                  </a:lnTo>
                  <a:cubicBezTo>
                    <a:pt x="1290447" y="0"/>
                    <a:pt x="1357122" y="64008"/>
                    <a:pt x="1357122" y="143510"/>
                  </a:cubicBezTo>
                  <a:lnTo>
                    <a:pt x="1350772" y="143510"/>
                  </a:lnTo>
                  <a:lnTo>
                    <a:pt x="1357122" y="143510"/>
                  </a:lnTo>
                  <a:lnTo>
                    <a:pt x="1350772" y="143510"/>
                  </a:lnTo>
                  <a:lnTo>
                    <a:pt x="1357122" y="143510"/>
                  </a:lnTo>
                  <a:cubicBezTo>
                    <a:pt x="1357122" y="223012"/>
                    <a:pt x="1290447" y="287020"/>
                    <a:pt x="1208659" y="287020"/>
                  </a:cubicBezTo>
                  <a:lnTo>
                    <a:pt x="1208659" y="280670"/>
                  </a:lnTo>
                  <a:lnTo>
                    <a:pt x="1208659" y="287020"/>
                  </a:lnTo>
                  <a:lnTo>
                    <a:pt x="148463" y="287020"/>
                  </a:lnTo>
                  <a:lnTo>
                    <a:pt x="148463" y="280670"/>
                  </a:lnTo>
                  <a:lnTo>
                    <a:pt x="148463" y="287020"/>
                  </a:lnTo>
                  <a:cubicBezTo>
                    <a:pt x="66675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463" y="274320"/>
                  </a:cubicBezTo>
                  <a:lnTo>
                    <a:pt x="1208659" y="274320"/>
                  </a:lnTo>
                  <a:cubicBezTo>
                    <a:pt x="1283843" y="274320"/>
                    <a:pt x="1344422" y="215519"/>
                    <a:pt x="1344422" y="143510"/>
                  </a:cubicBezTo>
                  <a:cubicBezTo>
                    <a:pt x="1344422" y="71501"/>
                    <a:pt x="1283843" y="12700"/>
                    <a:pt x="1208659" y="12700"/>
                  </a:cubicBezTo>
                  <a:lnTo>
                    <a:pt x="148463" y="12700"/>
                  </a:lnTo>
                  <a:lnTo>
                    <a:pt x="148463" y="6350"/>
                  </a:lnTo>
                  <a:lnTo>
                    <a:pt x="148463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07226" y="5156149"/>
            <a:ext cx="114300" cy="114300"/>
            <a:chOff x="0" y="0"/>
            <a:chExt cx="152400" cy="1524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759626" y="5110458"/>
            <a:ext cx="722557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Loyal·79.9%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8384" y="5110458"/>
            <a:ext cx="443808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·79.9%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84066" y="5110458"/>
            <a:ext cx="30661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35788" y="5387578"/>
            <a:ext cx="1340348" cy="215208"/>
            <a:chOff x="0" y="0"/>
            <a:chExt cx="1787131" cy="286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774444" cy="274193"/>
            </a:xfrm>
            <a:custGeom>
              <a:avLst/>
              <a:gdLst/>
              <a:ahLst/>
              <a:cxnLst/>
              <a:rect r="r" b="b" t="t" l="l"/>
              <a:pathLst>
                <a:path h="274193" w="1774444">
                  <a:moveTo>
                    <a:pt x="0" y="137160"/>
                  </a:moveTo>
                  <a:cubicBezTo>
                    <a:pt x="0" y="61341"/>
                    <a:pt x="63754" y="0"/>
                    <a:pt x="142494" y="0"/>
                  </a:cubicBezTo>
                  <a:lnTo>
                    <a:pt x="1631950" y="0"/>
                  </a:lnTo>
                  <a:cubicBezTo>
                    <a:pt x="1710563" y="0"/>
                    <a:pt x="1774444" y="61341"/>
                    <a:pt x="1774444" y="137160"/>
                  </a:cubicBezTo>
                  <a:cubicBezTo>
                    <a:pt x="1774444" y="212979"/>
                    <a:pt x="1710690" y="274193"/>
                    <a:pt x="1631950" y="274193"/>
                  </a:cubicBezTo>
                  <a:lnTo>
                    <a:pt x="142494" y="274193"/>
                  </a:lnTo>
                  <a:cubicBezTo>
                    <a:pt x="63754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7144" cy="287020"/>
            </a:xfrm>
            <a:custGeom>
              <a:avLst/>
              <a:gdLst/>
              <a:ahLst/>
              <a:cxnLst/>
              <a:rect r="r" b="b" t="t" l="l"/>
              <a:pathLst>
                <a:path h="287020" w="1787144">
                  <a:moveTo>
                    <a:pt x="0" y="143510"/>
                  </a:moveTo>
                  <a:cubicBezTo>
                    <a:pt x="0" y="64008"/>
                    <a:pt x="66802" y="0"/>
                    <a:pt x="148844" y="0"/>
                  </a:cubicBezTo>
                  <a:lnTo>
                    <a:pt x="1638300" y="0"/>
                  </a:lnTo>
                  <a:lnTo>
                    <a:pt x="1638300" y="6350"/>
                  </a:lnTo>
                  <a:lnTo>
                    <a:pt x="1638300" y="0"/>
                  </a:lnTo>
                  <a:cubicBezTo>
                    <a:pt x="1720215" y="0"/>
                    <a:pt x="1787144" y="64008"/>
                    <a:pt x="1787144" y="143510"/>
                  </a:cubicBezTo>
                  <a:lnTo>
                    <a:pt x="1780794" y="143510"/>
                  </a:lnTo>
                  <a:lnTo>
                    <a:pt x="1787144" y="143510"/>
                  </a:lnTo>
                  <a:lnTo>
                    <a:pt x="1780794" y="143510"/>
                  </a:lnTo>
                  <a:lnTo>
                    <a:pt x="1787144" y="143510"/>
                  </a:lnTo>
                  <a:cubicBezTo>
                    <a:pt x="1787144" y="223012"/>
                    <a:pt x="1720342" y="287020"/>
                    <a:pt x="1638300" y="287020"/>
                  </a:cubicBezTo>
                  <a:lnTo>
                    <a:pt x="1638300" y="280670"/>
                  </a:lnTo>
                  <a:lnTo>
                    <a:pt x="1638300" y="287020"/>
                  </a:lnTo>
                  <a:lnTo>
                    <a:pt x="148844" y="287020"/>
                  </a:lnTo>
                  <a:lnTo>
                    <a:pt x="148844" y="280670"/>
                  </a:lnTo>
                  <a:lnTo>
                    <a:pt x="148844" y="287020"/>
                  </a:lnTo>
                  <a:cubicBezTo>
                    <a:pt x="66802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844" y="274320"/>
                  </a:cubicBezTo>
                  <a:lnTo>
                    <a:pt x="1638300" y="274320"/>
                  </a:lnTo>
                  <a:cubicBezTo>
                    <a:pt x="1713738" y="274320"/>
                    <a:pt x="1774444" y="215519"/>
                    <a:pt x="1774444" y="143510"/>
                  </a:cubicBezTo>
                  <a:cubicBezTo>
                    <a:pt x="1774444" y="71501"/>
                    <a:pt x="1713738" y="12700"/>
                    <a:pt x="1638300" y="12700"/>
                  </a:cubicBezTo>
                  <a:lnTo>
                    <a:pt x="148844" y="12700"/>
                  </a:lnTo>
                  <a:lnTo>
                    <a:pt x="148844" y="6350"/>
                  </a:lnTo>
                  <a:lnTo>
                    <a:pt x="148844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07226" y="5438032"/>
            <a:ext cx="114300" cy="114300"/>
            <a:chOff x="0" y="0"/>
            <a:chExt cx="152400" cy="1524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759626" y="5392341"/>
            <a:ext cx="1045073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Returning·17.97%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95407" y="5392341"/>
            <a:ext cx="509292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·17.97%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41098" y="5392341"/>
            <a:ext cx="30661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535788" y="5669461"/>
            <a:ext cx="978103" cy="215208"/>
            <a:chOff x="0" y="0"/>
            <a:chExt cx="1304138" cy="286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1291463" cy="274193"/>
            </a:xfrm>
            <a:custGeom>
              <a:avLst/>
              <a:gdLst/>
              <a:ahLst/>
              <a:cxnLst/>
              <a:rect r="r" b="b" t="t" l="l"/>
              <a:pathLst>
                <a:path h="274193" w="1291463">
                  <a:moveTo>
                    <a:pt x="0" y="137160"/>
                  </a:moveTo>
                  <a:cubicBezTo>
                    <a:pt x="0" y="61341"/>
                    <a:pt x="63627" y="0"/>
                    <a:pt x="142113" y="0"/>
                  </a:cubicBezTo>
                  <a:lnTo>
                    <a:pt x="1149350" y="0"/>
                  </a:lnTo>
                  <a:cubicBezTo>
                    <a:pt x="1227836" y="0"/>
                    <a:pt x="1291463" y="61341"/>
                    <a:pt x="1291463" y="137160"/>
                  </a:cubicBezTo>
                  <a:cubicBezTo>
                    <a:pt x="1291463" y="212979"/>
                    <a:pt x="1227836" y="274193"/>
                    <a:pt x="1149350" y="274193"/>
                  </a:cubicBezTo>
                  <a:lnTo>
                    <a:pt x="142113" y="274193"/>
                  </a:lnTo>
                  <a:cubicBezTo>
                    <a:pt x="63627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4163" cy="287020"/>
            </a:xfrm>
            <a:custGeom>
              <a:avLst/>
              <a:gdLst/>
              <a:ahLst/>
              <a:cxnLst/>
              <a:rect r="r" b="b" t="t" l="l"/>
              <a:pathLst>
                <a:path h="287020" w="1304163">
                  <a:moveTo>
                    <a:pt x="0" y="143510"/>
                  </a:moveTo>
                  <a:cubicBezTo>
                    <a:pt x="0" y="64008"/>
                    <a:pt x="66675" y="0"/>
                    <a:pt x="148463" y="0"/>
                  </a:cubicBezTo>
                  <a:lnTo>
                    <a:pt x="1155700" y="0"/>
                  </a:lnTo>
                  <a:lnTo>
                    <a:pt x="1155700" y="6350"/>
                  </a:lnTo>
                  <a:lnTo>
                    <a:pt x="1155700" y="0"/>
                  </a:lnTo>
                  <a:cubicBezTo>
                    <a:pt x="1237488" y="0"/>
                    <a:pt x="1304163" y="64008"/>
                    <a:pt x="1304163" y="143510"/>
                  </a:cubicBezTo>
                  <a:lnTo>
                    <a:pt x="1297813" y="143510"/>
                  </a:lnTo>
                  <a:lnTo>
                    <a:pt x="1304163" y="143510"/>
                  </a:lnTo>
                  <a:lnTo>
                    <a:pt x="1297813" y="143510"/>
                  </a:lnTo>
                  <a:lnTo>
                    <a:pt x="1304163" y="143510"/>
                  </a:lnTo>
                  <a:cubicBezTo>
                    <a:pt x="1304163" y="223012"/>
                    <a:pt x="1237488" y="287020"/>
                    <a:pt x="1155700" y="287020"/>
                  </a:cubicBezTo>
                  <a:lnTo>
                    <a:pt x="1155700" y="280670"/>
                  </a:lnTo>
                  <a:lnTo>
                    <a:pt x="1155700" y="287020"/>
                  </a:lnTo>
                  <a:lnTo>
                    <a:pt x="148463" y="287020"/>
                  </a:lnTo>
                  <a:lnTo>
                    <a:pt x="148463" y="280670"/>
                  </a:lnTo>
                  <a:lnTo>
                    <a:pt x="148463" y="287020"/>
                  </a:lnTo>
                  <a:cubicBezTo>
                    <a:pt x="66675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463" y="274320"/>
                  </a:cubicBezTo>
                  <a:lnTo>
                    <a:pt x="1155700" y="274320"/>
                  </a:lnTo>
                  <a:cubicBezTo>
                    <a:pt x="1230884" y="274320"/>
                    <a:pt x="1291463" y="215519"/>
                    <a:pt x="1291463" y="143510"/>
                  </a:cubicBezTo>
                  <a:cubicBezTo>
                    <a:pt x="1291463" y="71501"/>
                    <a:pt x="1230884" y="12700"/>
                    <a:pt x="1155700" y="12700"/>
                  </a:cubicBezTo>
                  <a:lnTo>
                    <a:pt x="148463" y="12700"/>
                  </a:lnTo>
                  <a:lnTo>
                    <a:pt x="148463" y="6350"/>
                  </a:lnTo>
                  <a:lnTo>
                    <a:pt x="148463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07226" y="5719915"/>
            <a:ext cx="114300" cy="114300"/>
            <a:chOff x="0" y="0"/>
            <a:chExt cx="152400" cy="152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759626" y="5674223"/>
            <a:ext cx="682828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New·2.13%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8646" y="5674223"/>
            <a:ext cx="443808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·2.13%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44328" y="5674223"/>
            <a:ext cx="30661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99397" y="312970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Segment Breakdown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9397" y="3789464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The vast majority of customers (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3,116 / 80%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) are classified as </a:t>
            </a:r>
            <a:r>
              <a:rPr lang="en-US" sz="2187" b="true">
                <a:solidFill>
                  <a:srgbClr val="5E4CE6"/>
                </a:solidFill>
                <a:latin typeface="Arimo Bold"/>
                <a:ea typeface="Arimo Bold"/>
                <a:cs typeface="Arimo Bold"/>
                <a:sym typeface="Arimo Bold"/>
              </a:rPr>
              <a:t>Loyal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, with 701 Returning and only 83 New customers.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9397" y="4951809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Among repeat buyers (&gt;5 purchases),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958 subscribe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vs.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2,518 who don't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— a significant conversion opportunity.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99397" y="6282776"/>
            <a:ext cx="7805890" cy="2112016"/>
            <a:chOff x="0" y="0"/>
            <a:chExt cx="10407853" cy="28160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07777" cy="2815971"/>
            </a:xfrm>
            <a:custGeom>
              <a:avLst/>
              <a:gdLst/>
              <a:ahLst/>
              <a:cxnLst/>
              <a:rect r="r" b="b" t="t" l="l"/>
              <a:pathLst>
                <a:path h="2815971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2657221"/>
                  </a:lnTo>
                  <a:cubicBezTo>
                    <a:pt x="10407777" y="2744851"/>
                    <a:pt x="10336657" y="2815971"/>
                    <a:pt x="10249027" y="2815971"/>
                  </a:cubicBezTo>
                  <a:lnTo>
                    <a:pt x="158750" y="2815971"/>
                  </a:lnTo>
                  <a:cubicBezTo>
                    <a:pt x="71120" y="2815971"/>
                    <a:pt x="0" y="2744851"/>
                    <a:pt x="0" y="2657221"/>
                  </a:cubicBezTo>
                  <a:close/>
                </a:path>
              </a:pathLst>
            </a:custGeom>
            <a:solidFill>
              <a:srgbClr val="C3BC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82918" y="6712896"/>
            <a:ext cx="354359" cy="283521"/>
            <a:chOff x="0" y="0"/>
            <a:chExt cx="472478" cy="37802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1" r="-8" b="-655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420798" y="6532359"/>
            <a:ext cx="660097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Subscribers average </a:t>
            </a: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$59.49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spend vs. </a:t>
            </a: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$59.87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non-subscribers — nearly identical, suggesting loyalty isn't driven by spend alone.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26136"/>
            <a:ext cx="739481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Revenue by Age Group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613394"/>
            <a:ext cx="7805890" cy="4616796"/>
            <a:chOff x="0" y="0"/>
            <a:chExt cx="10407853" cy="61557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07904" cy="6155690"/>
            </a:xfrm>
            <a:custGeom>
              <a:avLst/>
              <a:gdLst/>
              <a:ahLst/>
              <a:cxnLst/>
              <a:rect r="r" b="b" t="t" l="l"/>
              <a:pathLst>
                <a:path h="6155690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6155690"/>
                  </a:lnTo>
                  <a:lnTo>
                    <a:pt x="0" y="6155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062598" y="4228471"/>
            <a:ext cx="260061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62.1k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38977" y="5226215"/>
            <a:ext cx="260061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59.2k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9765" y="6223959"/>
            <a:ext cx="172107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56k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78446" y="7221703"/>
            <a:ext cx="260061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55.8k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3539881"/>
            <a:ext cx="356488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Age-Driven Spending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4199630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Young Adults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lead revenue at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$62,143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, followed closely by Middle-aged at </a:t>
            </a:r>
            <a:r>
              <a:rPr lang="en-US" sz="21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$59,197</a:t>
            </a: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397" y="5361984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Revenue is relatively balanced across all age groups, with a spread of only ~$6,400 from top to bottom — indicating broad demographic appeal.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59859"/>
            <a:ext cx="847561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Top Products by Category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965247"/>
            <a:ext cx="8019459" cy="2767755"/>
            <a:chOff x="0" y="0"/>
            <a:chExt cx="10692613" cy="36903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938" cy="3677666"/>
            </a:xfrm>
            <a:custGeom>
              <a:avLst/>
              <a:gdLst/>
              <a:ahLst/>
              <a:cxnLst/>
              <a:rect r="r" b="b" t="t" l="l"/>
              <a:pathLst>
                <a:path h="36776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8916"/>
                  </a:lnTo>
                  <a:cubicBezTo>
                    <a:pt x="10679938" y="3606546"/>
                    <a:pt x="10608690" y="3677666"/>
                    <a:pt x="10520807" y="3677666"/>
                  </a:cubicBezTo>
                  <a:lnTo>
                    <a:pt x="159131" y="3677666"/>
                  </a:lnTo>
                  <a:cubicBezTo>
                    <a:pt x="71247" y="3677666"/>
                    <a:pt x="0" y="3606546"/>
                    <a:pt x="0" y="35189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638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266"/>
                  </a:lnTo>
                  <a:lnTo>
                    <a:pt x="10686288" y="3525266"/>
                  </a:lnTo>
                  <a:lnTo>
                    <a:pt x="10692638" y="3525266"/>
                  </a:lnTo>
                  <a:cubicBezTo>
                    <a:pt x="10692638" y="3616452"/>
                    <a:pt x="10618597" y="3690366"/>
                    <a:pt x="10527157" y="3690366"/>
                  </a:cubicBezTo>
                  <a:lnTo>
                    <a:pt x="10527157" y="3684016"/>
                  </a:lnTo>
                  <a:lnTo>
                    <a:pt x="10527157" y="3690366"/>
                  </a:lnTo>
                  <a:lnTo>
                    <a:pt x="165481" y="3690366"/>
                  </a:lnTo>
                  <a:lnTo>
                    <a:pt x="165481" y="3684016"/>
                  </a:lnTo>
                  <a:lnTo>
                    <a:pt x="165481" y="3690366"/>
                  </a:lnTo>
                  <a:cubicBezTo>
                    <a:pt x="74168" y="3690366"/>
                    <a:pt x="0" y="3616452"/>
                    <a:pt x="0" y="35252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266"/>
                  </a:lnTo>
                  <a:lnTo>
                    <a:pt x="6350" y="3525266"/>
                  </a:lnTo>
                  <a:lnTo>
                    <a:pt x="12700" y="3525266"/>
                  </a:lnTo>
                  <a:cubicBezTo>
                    <a:pt x="12700" y="3609467"/>
                    <a:pt x="81026" y="3677666"/>
                    <a:pt x="165481" y="3677666"/>
                  </a:cubicBezTo>
                  <a:lnTo>
                    <a:pt x="10527157" y="3677666"/>
                  </a:lnTo>
                  <a:cubicBezTo>
                    <a:pt x="10611485" y="3677666"/>
                    <a:pt x="10679938" y="3609467"/>
                    <a:pt x="10679938" y="35252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22495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👗</a:t>
            </a: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 Clothing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3771309"/>
            <a:ext cx="7423842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Blouse — 171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Pants — 171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Shirt — 169 orders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0922" y="2965247"/>
            <a:ext cx="8019602" cy="2767755"/>
            <a:chOff x="0" y="0"/>
            <a:chExt cx="10692803" cy="36903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0680065" cy="3677666"/>
            </a:xfrm>
            <a:custGeom>
              <a:avLst/>
              <a:gdLst/>
              <a:ahLst/>
              <a:cxnLst/>
              <a:rect r="r" b="b" t="t" l="l"/>
              <a:pathLst>
                <a:path h="3677666" w="10680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18916"/>
                  </a:lnTo>
                  <a:cubicBezTo>
                    <a:pt x="10680065" y="3606546"/>
                    <a:pt x="10608818" y="3677666"/>
                    <a:pt x="10520934" y="3677666"/>
                  </a:cubicBezTo>
                  <a:lnTo>
                    <a:pt x="159131" y="3677666"/>
                  </a:lnTo>
                  <a:cubicBezTo>
                    <a:pt x="71247" y="3677666"/>
                    <a:pt x="0" y="3606546"/>
                    <a:pt x="0" y="35189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2765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927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597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25266"/>
                  </a:lnTo>
                  <a:lnTo>
                    <a:pt x="10686415" y="3525266"/>
                  </a:lnTo>
                  <a:lnTo>
                    <a:pt x="10692765" y="3525266"/>
                  </a:lnTo>
                  <a:cubicBezTo>
                    <a:pt x="10692765" y="3616452"/>
                    <a:pt x="10618724" y="3690366"/>
                    <a:pt x="10527284" y="3690366"/>
                  </a:cubicBezTo>
                  <a:lnTo>
                    <a:pt x="10527284" y="3684016"/>
                  </a:lnTo>
                  <a:lnTo>
                    <a:pt x="10527284" y="3690366"/>
                  </a:lnTo>
                  <a:lnTo>
                    <a:pt x="165481" y="3690366"/>
                  </a:lnTo>
                  <a:lnTo>
                    <a:pt x="165481" y="3684016"/>
                  </a:lnTo>
                  <a:lnTo>
                    <a:pt x="165481" y="3690366"/>
                  </a:lnTo>
                  <a:cubicBezTo>
                    <a:pt x="74168" y="3690366"/>
                    <a:pt x="0" y="3616452"/>
                    <a:pt x="0" y="35252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266"/>
                  </a:lnTo>
                  <a:lnTo>
                    <a:pt x="6350" y="3525266"/>
                  </a:lnTo>
                  <a:lnTo>
                    <a:pt x="12700" y="3525266"/>
                  </a:lnTo>
                  <a:cubicBezTo>
                    <a:pt x="12700" y="3609467"/>
                    <a:pt x="81026" y="3677666"/>
                    <a:pt x="165481" y="3677666"/>
                  </a:cubicBezTo>
                  <a:lnTo>
                    <a:pt x="10527284" y="3677666"/>
                  </a:lnTo>
                  <a:cubicBezTo>
                    <a:pt x="10611612" y="3677666"/>
                    <a:pt x="10680065" y="3609467"/>
                    <a:pt x="10680065" y="3525266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78731" y="322495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💍</a:t>
            </a: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 Accessories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8731" y="3771309"/>
            <a:ext cx="7423995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Jewelry — 171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Sunglasses — 161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Belt — 161 orders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7476" y="6006998"/>
            <a:ext cx="8019459" cy="2767755"/>
            <a:chOff x="0" y="0"/>
            <a:chExt cx="10692613" cy="36903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679938" cy="3677666"/>
            </a:xfrm>
            <a:custGeom>
              <a:avLst/>
              <a:gdLst/>
              <a:ahLst/>
              <a:cxnLst/>
              <a:rect r="r" b="b" t="t" l="l"/>
              <a:pathLst>
                <a:path h="36776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8916"/>
                  </a:lnTo>
                  <a:cubicBezTo>
                    <a:pt x="10679938" y="3606546"/>
                    <a:pt x="10608690" y="3677666"/>
                    <a:pt x="10520807" y="3677666"/>
                  </a:cubicBezTo>
                  <a:lnTo>
                    <a:pt x="159131" y="3677666"/>
                  </a:lnTo>
                  <a:cubicBezTo>
                    <a:pt x="71247" y="3677666"/>
                    <a:pt x="0" y="3606546"/>
                    <a:pt x="0" y="35189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2638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266"/>
                  </a:lnTo>
                  <a:lnTo>
                    <a:pt x="10686288" y="3525266"/>
                  </a:lnTo>
                  <a:lnTo>
                    <a:pt x="10692638" y="3525266"/>
                  </a:lnTo>
                  <a:cubicBezTo>
                    <a:pt x="10692638" y="3616452"/>
                    <a:pt x="10618597" y="3690366"/>
                    <a:pt x="10527157" y="3690366"/>
                  </a:cubicBezTo>
                  <a:lnTo>
                    <a:pt x="10527157" y="3684016"/>
                  </a:lnTo>
                  <a:lnTo>
                    <a:pt x="10527157" y="3690366"/>
                  </a:lnTo>
                  <a:lnTo>
                    <a:pt x="165481" y="3690366"/>
                  </a:lnTo>
                  <a:lnTo>
                    <a:pt x="165481" y="3684016"/>
                  </a:lnTo>
                  <a:lnTo>
                    <a:pt x="165481" y="3690366"/>
                  </a:lnTo>
                  <a:cubicBezTo>
                    <a:pt x="74168" y="3690366"/>
                    <a:pt x="0" y="3616452"/>
                    <a:pt x="0" y="35252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266"/>
                  </a:lnTo>
                  <a:lnTo>
                    <a:pt x="6350" y="3525266"/>
                  </a:lnTo>
                  <a:lnTo>
                    <a:pt x="12700" y="3525266"/>
                  </a:lnTo>
                  <a:cubicBezTo>
                    <a:pt x="12700" y="3609467"/>
                    <a:pt x="81026" y="3677666"/>
                    <a:pt x="165481" y="3677666"/>
                  </a:cubicBezTo>
                  <a:lnTo>
                    <a:pt x="10527157" y="3677666"/>
                  </a:lnTo>
                  <a:cubicBezTo>
                    <a:pt x="10611485" y="3677666"/>
                    <a:pt x="10679938" y="3609467"/>
                    <a:pt x="10679938" y="35252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84" y="626670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👟</a:t>
            </a: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 Footwear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284" y="6813052"/>
            <a:ext cx="7423842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Sandals — 160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Shoes — 150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Sneakers — 145 orders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0922" y="6006998"/>
            <a:ext cx="8019602" cy="2767755"/>
            <a:chOff x="0" y="0"/>
            <a:chExt cx="10692803" cy="36903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0680065" cy="3677666"/>
            </a:xfrm>
            <a:custGeom>
              <a:avLst/>
              <a:gdLst/>
              <a:ahLst/>
              <a:cxnLst/>
              <a:rect r="r" b="b" t="t" l="l"/>
              <a:pathLst>
                <a:path h="3677666" w="10680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18916"/>
                  </a:lnTo>
                  <a:cubicBezTo>
                    <a:pt x="10680065" y="3606546"/>
                    <a:pt x="10608818" y="3677666"/>
                    <a:pt x="10520934" y="3677666"/>
                  </a:cubicBezTo>
                  <a:lnTo>
                    <a:pt x="159131" y="3677666"/>
                  </a:lnTo>
                  <a:cubicBezTo>
                    <a:pt x="71247" y="3677666"/>
                    <a:pt x="0" y="3606546"/>
                    <a:pt x="0" y="3518916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2765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927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597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25266"/>
                  </a:lnTo>
                  <a:lnTo>
                    <a:pt x="10686415" y="3525266"/>
                  </a:lnTo>
                  <a:lnTo>
                    <a:pt x="10692765" y="3525266"/>
                  </a:lnTo>
                  <a:cubicBezTo>
                    <a:pt x="10692765" y="3616452"/>
                    <a:pt x="10618724" y="3690366"/>
                    <a:pt x="10527284" y="3690366"/>
                  </a:cubicBezTo>
                  <a:lnTo>
                    <a:pt x="10527284" y="3684016"/>
                  </a:lnTo>
                  <a:lnTo>
                    <a:pt x="10527284" y="3690366"/>
                  </a:lnTo>
                  <a:lnTo>
                    <a:pt x="165481" y="3690366"/>
                  </a:lnTo>
                  <a:lnTo>
                    <a:pt x="165481" y="3684016"/>
                  </a:lnTo>
                  <a:lnTo>
                    <a:pt x="165481" y="3690366"/>
                  </a:lnTo>
                  <a:cubicBezTo>
                    <a:pt x="74168" y="3690366"/>
                    <a:pt x="0" y="3616452"/>
                    <a:pt x="0" y="35252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266"/>
                  </a:lnTo>
                  <a:lnTo>
                    <a:pt x="6350" y="3525266"/>
                  </a:lnTo>
                  <a:lnTo>
                    <a:pt x="12700" y="3525266"/>
                  </a:lnTo>
                  <a:cubicBezTo>
                    <a:pt x="12700" y="3609467"/>
                    <a:pt x="81026" y="3677666"/>
                    <a:pt x="165481" y="3677666"/>
                  </a:cubicBezTo>
                  <a:lnTo>
                    <a:pt x="10527284" y="3677666"/>
                  </a:lnTo>
                  <a:cubicBezTo>
                    <a:pt x="10611612" y="3677666"/>
                    <a:pt x="10680065" y="3609467"/>
                    <a:pt x="10680065" y="3525266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78731" y="626670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🧥</a:t>
            </a: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 Outerwear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31" y="6813052"/>
            <a:ext cx="7423995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Jacket — 163 orders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Coat — 161 orders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4685" y="515388"/>
            <a:ext cx="4319435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74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Power BI Dashboard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4685" y="1251194"/>
            <a:ext cx="7529217" cy="4742707"/>
            <a:chOff x="0" y="0"/>
            <a:chExt cx="10038956" cy="632360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038969" cy="6323584"/>
            </a:xfrm>
            <a:custGeom>
              <a:avLst/>
              <a:gdLst/>
              <a:ahLst/>
              <a:cxnLst/>
              <a:rect r="r" b="b" t="t" l="l"/>
              <a:pathLst>
                <a:path h="6323584" w="10038969">
                  <a:moveTo>
                    <a:pt x="0" y="0"/>
                  </a:moveTo>
                  <a:lnTo>
                    <a:pt x="10038969" y="0"/>
                  </a:lnTo>
                  <a:lnTo>
                    <a:pt x="10038969" y="6323584"/>
                  </a:lnTo>
                  <a:lnTo>
                    <a:pt x="0" y="632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7" r="0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9923" y="6107459"/>
            <a:ext cx="10230145" cy="3630816"/>
            <a:chOff x="0" y="0"/>
            <a:chExt cx="13640194" cy="48410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3627481" cy="4828413"/>
            </a:xfrm>
            <a:custGeom>
              <a:avLst/>
              <a:gdLst/>
              <a:ahLst/>
              <a:cxnLst/>
              <a:rect r="r" b="b" t="t" l="l"/>
              <a:pathLst>
                <a:path h="4828413" w="13627481">
                  <a:moveTo>
                    <a:pt x="0" y="96774"/>
                  </a:moveTo>
                  <a:cubicBezTo>
                    <a:pt x="0" y="43307"/>
                    <a:pt x="43434" y="0"/>
                    <a:pt x="96901" y="0"/>
                  </a:cubicBezTo>
                  <a:lnTo>
                    <a:pt x="13530580" y="0"/>
                  </a:lnTo>
                  <a:cubicBezTo>
                    <a:pt x="13584047" y="0"/>
                    <a:pt x="13627481" y="43307"/>
                    <a:pt x="13627481" y="96774"/>
                  </a:cubicBezTo>
                  <a:lnTo>
                    <a:pt x="13627481" y="4731639"/>
                  </a:lnTo>
                  <a:cubicBezTo>
                    <a:pt x="13627481" y="4785106"/>
                    <a:pt x="13584047" y="4828413"/>
                    <a:pt x="13530580" y="4828413"/>
                  </a:cubicBezTo>
                  <a:lnTo>
                    <a:pt x="96901" y="4828413"/>
                  </a:lnTo>
                  <a:cubicBezTo>
                    <a:pt x="43434" y="4828413"/>
                    <a:pt x="0" y="4785106"/>
                    <a:pt x="0" y="4731639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40181" cy="4841113"/>
            </a:xfrm>
            <a:custGeom>
              <a:avLst/>
              <a:gdLst/>
              <a:ahLst/>
              <a:cxnLst/>
              <a:rect r="r" b="b" t="t" l="l"/>
              <a:pathLst>
                <a:path h="4841113" w="13640181">
                  <a:moveTo>
                    <a:pt x="0" y="103124"/>
                  </a:moveTo>
                  <a:cubicBezTo>
                    <a:pt x="0" y="46101"/>
                    <a:pt x="46228" y="0"/>
                    <a:pt x="103251" y="0"/>
                  </a:cubicBezTo>
                  <a:lnTo>
                    <a:pt x="13536930" y="0"/>
                  </a:lnTo>
                  <a:lnTo>
                    <a:pt x="13536930" y="6350"/>
                  </a:lnTo>
                  <a:lnTo>
                    <a:pt x="13536930" y="0"/>
                  </a:lnTo>
                  <a:cubicBezTo>
                    <a:pt x="13593953" y="0"/>
                    <a:pt x="13640181" y="46101"/>
                    <a:pt x="13640181" y="103124"/>
                  </a:cubicBezTo>
                  <a:lnTo>
                    <a:pt x="13633831" y="103124"/>
                  </a:lnTo>
                  <a:lnTo>
                    <a:pt x="13640181" y="103124"/>
                  </a:lnTo>
                  <a:lnTo>
                    <a:pt x="13640181" y="4737989"/>
                  </a:lnTo>
                  <a:lnTo>
                    <a:pt x="13633831" y="4737989"/>
                  </a:lnTo>
                  <a:lnTo>
                    <a:pt x="13640181" y="4737989"/>
                  </a:lnTo>
                  <a:cubicBezTo>
                    <a:pt x="13640181" y="4794885"/>
                    <a:pt x="13593953" y="4841113"/>
                    <a:pt x="13536930" y="4841113"/>
                  </a:cubicBezTo>
                  <a:lnTo>
                    <a:pt x="13536930" y="4834763"/>
                  </a:lnTo>
                  <a:lnTo>
                    <a:pt x="13536930" y="4841113"/>
                  </a:lnTo>
                  <a:lnTo>
                    <a:pt x="103251" y="4841113"/>
                  </a:lnTo>
                  <a:lnTo>
                    <a:pt x="103251" y="4834763"/>
                  </a:lnTo>
                  <a:lnTo>
                    <a:pt x="103251" y="4841113"/>
                  </a:lnTo>
                  <a:cubicBezTo>
                    <a:pt x="46228" y="4841113"/>
                    <a:pt x="0" y="4795012"/>
                    <a:pt x="0" y="4737989"/>
                  </a:cubicBezTo>
                  <a:lnTo>
                    <a:pt x="0" y="103124"/>
                  </a:lnTo>
                  <a:lnTo>
                    <a:pt x="6350" y="103124"/>
                  </a:lnTo>
                  <a:lnTo>
                    <a:pt x="0" y="103124"/>
                  </a:lnTo>
                  <a:moveTo>
                    <a:pt x="12700" y="103124"/>
                  </a:moveTo>
                  <a:lnTo>
                    <a:pt x="12700" y="4737989"/>
                  </a:lnTo>
                  <a:lnTo>
                    <a:pt x="6350" y="4737989"/>
                  </a:lnTo>
                  <a:lnTo>
                    <a:pt x="12700" y="4737989"/>
                  </a:lnTo>
                  <a:cubicBezTo>
                    <a:pt x="12700" y="4787900"/>
                    <a:pt x="53213" y="4828413"/>
                    <a:pt x="103251" y="4828413"/>
                  </a:cubicBezTo>
                  <a:lnTo>
                    <a:pt x="13536930" y="4828413"/>
                  </a:lnTo>
                  <a:cubicBezTo>
                    <a:pt x="13586969" y="4828413"/>
                    <a:pt x="13627481" y="4787900"/>
                    <a:pt x="13627481" y="4737989"/>
                  </a:cubicBezTo>
                  <a:lnTo>
                    <a:pt x="13627481" y="103124"/>
                  </a:lnTo>
                  <a:cubicBezTo>
                    <a:pt x="13627481" y="53213"/>
                    <a:pt x="13586969" y="12700"/>
                    <a:pt x="13536930" y="12700"/>
                  </a:cubicBezTo>
                  <a:lnTo>
                    <a:pt x="103251" y="12700"/>
                  </a:lnTo>
                  <a:lnTo>
                    <a:pt x="103251" y="6350"/>
                  </a:lnTo>
                  <a:lnTo>
                    <a:pt x="103251" y="12700"/>
                  </a:lnTo>
                  <a:cubicBezTo>
                    <a:pt x="53213" y="12700"/>
                    <a:pt x="12700" y="53213"/>
                    <a:pt x="12700" y="103124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4210" y="6121746"/>
            <a:ext cx="10201570" cy="900560"/>
            <a:chOff x="0" y="0"/>
            <a:chExt cx="13602094" cy="12007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02081" cy="1200785"/>
            </a:xfrm>
            <a:custGeom>
              <a:avLst/>
              <a:gdLst/>
              <a:ahLst/>
              <a:cxnLst/>
              <a:rect r="r" b="b" t="t" l="l"/>
              <a:pathLst>
                <a:path h="1200785" w="13602081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13505307" y="0"/>
                  </a:lnTo>
                  <a:cubicBezTo>
                    <a:pt x="13558774" y="0"/>
                    <a:pt x="13602081" y="43307"/>
                    <a:pt x="13602081" y="96774"/>
                  </a:cubicBezTo>
                  <a:lnTo>
                    <a:pt x="13602081" y="1104011"/>
                  </a:lnTo>
                  <a:cubicBezTo>
                    <a:pt x="13602081" y="1157478"/>
                    <a:pt x="13558774" y="1200785"/>
                    <a:pt x="13505307" y="1200785"/>
                  </a:cubicBezTo>
                  <a:lnTo>
                    <a:pt x="96774" y="1200785"/>
                  </a:lnTo>
                  <a:cubicBezTo>
                    <a:pt x="43307" y="1200785"/>
                    <a:pt x="0" y="1157478"/>
                    <a:pt x="0" y="1104011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6851" y="6265812"/>
            <a:ext cx="215964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3.9K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6851" y="6589214"/>
            <a:ext cx="9856289" cy="2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Customers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14210" y="7022306"/>
            <a:ext cx="10201570" cy="900560"/>
            <a:chOff x="0" y="0"/>
            <a:chExt cx="13602094" cy="12007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02081" cy="1200785"/>
            </a:xfrm>
            <a:custGeom>
              <a:avLst/>
              <a:gdLst/>
              <a:ahLst/>
              <a:cxnLst/>
              <a:rect r="r" b="b" t="t" l="l"/>
              <a:pathLst>
                <a:path h="1200785" w="13602081">
                  <a:moveTo>
                    <a:pt x="0" y="0"/>
                  </a:moveTo>
                  <a:lnTo>
                    <a:pt x="13602081" y="0"/>
                  </a:lnTo>
                  <a:lnTo>
                    <a:pt x="13602081" y="1200785"/>
                  </a:lnTo>
                  <a:lnTo>
                    <a:pt x="0" y="1200785"/>
                  </a:lnTo>
                  <a:close/>
                </a:path>
              </a:pathLst>
            </a:custGeom>
            <a:solidFill>
              <a:srgbClr val="E9E6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4210" y="7022306"/>
            <a:ext cx="10201570" cy="19050"/>
            <a:chOff x="0" y="0"/>
            <a:chExt cx="1360209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02081" cy="25400"/>
            </a:xfrm>
            <a:custGeom>
              <a:avLst/>
              <a:gdLst/>
              <a:ahLst/>
              <a:cxnLst/>
              <a:rect r="r" b="b" t="t" l="l"/>
              <a:pathLst>
                <a:path h="25400" w="136020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589381" y="0"/>
                  </a:lnTo>
                  <a:cubicBezTo>
                    <a:pt x="13596367" y="0"/>
                    <a:pt x="13602081" y="5715"/>
                    <a:pt x="13602081" y="12700"/>
                  </a:cubicBezTo>
                  <a:cubicBezTo>
                    <a:pt x="13602081" y="19685"/>
                    <a:pt x="13596367" y="25400"/>
                    <a:pt x="135893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86851" y="7166372"/>
            <a:ext cx="215964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$59.76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851" y="7489774"/>
            <a:ext cx="9856289" cy="2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Avg. Purchase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14210" y="7922866"/>
            <a:ext cx="10201570" cy="900560"/>
            <a:chOff x="0" y="0"/>
            <a:chExt cx="13602094" cy="12007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02081" cy="1200785"/>
            </a:xfrm>
            <a:custGeom>
              <a:avLst/>
              <a:gdLst/>
              <a:ahLst/>
              <a:cxnLst/>
              <a:rect r="r" b="b" t="t" l="l"/>
              <a:pathLst>
                <a:path h="1200785" w="13602081">
                  <a:moveTo>
                    <a:pt x="0" y="0"/>
                  </a:moveTo>
                  <a:lnTo>
                    <a:pt x="13602081" y="0"/>
                  </a:lnTo>
                  <a:lnTo>
                    <a:pt x="13602081" y="1200785"/>
                  </a:lnTo>
                  <a:lnTo>
                    <a:pt x="0" y="1200785"/>
                  </a:lnTo>
                  <a:close/>
                </a:path>
              </a:pathLst>
            </a:custGeom>
            <a:solidFill>
              <a:srgbClr val="E9E6F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4210" y="7922866"/>
            <a:ext cx="10201570" cy="19050"/>
            <a:chOff x="0" y="0"/>
            <a:chExt cx="13602094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602081" cy="25400"/>
            </a:xfrm>
            <a:custGeom>
              <a:avLst/>
              <a:gdLst/>
              <a:ahLst/>
              <a:cxnLst/>
              <a:rect r="r" b="b" t="t" l="l"/>
              <a:pathLst>
                <a:path h="25400" w="136020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589381" y="0"/>
                  </a:lnTo>
                  <a:cubicBezTo>
                    <a:pt x="13596367" y="0"/>
                    <a:pt x="13602081" y="5715"/>
                    <a:pt x="13602081" y="12700"/>
                  </a:cubicBezTo>
                  <a:cubicBezTo>
                    <a:pt x="13602081" y="19685"/>
                    <a:pt x="13596367" y="25400"/>
                    <a:pt x="135893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6851" y="8066932"/>
            <a:ext cx="215964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3.75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6851" y="8390334"/>
            <a:ext cx="9856289" cy="2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Avg. Rating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14210" y="8823427"/>
            <a:ext cx="10201570" cy="900560"/>
            <a:chOff x="0" y="0"/>
            <a:chExt cx="13602094" cy="12007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02081" cy="1200785"/>
            </a:xfrm>
            <a:custGeom>
              <a:avLst/>
              <a:gdLst/>
              <a:ahLst/>
              <a:cxnLst/>
              <a:rect r="r" b="b" t="t" l="l"/>
              <a:pathLst>
                <a:path h="1200785" w="13602081">
                  <a:moveTo>
                    <a:pt x="0" y="0"/>
                  </a:moveTo>
                  <a:lnTo>
                    <a:pt x="13602081" y="0"/>
                  </a:lnTo>
                  <a:lnTo>
                    <a:pt x="13602081" y="1200785"/>
                  </a:lnTo>
                  <a:lnTo>
                    <a:pt x="0" y="1200785"/>
                  </a:lnTo>
                  <a:close/>
                </a:path>
              </a:pathLst>
            </a:custGeom>
            <a:solidFill>
              <a:srgbClr val="E9E6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4210" y="8823427"/>
            <a:ext cx="10201570" cy="19050"/>
            <a:chOff x="0" y="0"/>
            <a:chExt cx="13602094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602081" cy="25400"/>
            </a:xfrm>
            <a:custGeom>
              <a:avLst/>
              <a:gdLst/>
              <a:ahLst/>
              <a:cxnLst/>
              <a:rect r="r" b="b" t="t" l="l"/>
              <a:pathLst>
                <a:path h="25400" w="136020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589381" y="0"/>
                  </a:lnTo>
                  <a:cubicBezTo>
                    <a:pt x="13596367" y="0"/>
                    <a:pt x="13602081" y="5715"/>
                    <a:pt x="13602081" y="12700"/>
                  </a:cubicBezTo>
                  <a:cubicBezTo>
                    <a:pt x="13602081" y="19685"/>
                    <a:pt x="13596367" y="25400"/>
                    <a:pt x="135893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86851" y="8967492"/>
            <a:ext cx="215964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27% / 73%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6851" y="9290895"/>
            <a:ext cx="9856289" cy="2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Subscribers vs. Non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00943"/>
            <a:ext cx="913834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Business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092053"/>
            <a:ext cx="5283546" cy="2655246"/>
            <a:chOff x="0" y="0"/>
            <a:chExt cx="7044728" cy="3540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111103"/>
            <a:ext cx="152400" cy="2617146"/>
            <a:chOff x="0" y="0"/>
            <a:chExt cx="203200" cy="348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39462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Boost Subscriptions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3940969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Promote exclusive benefits to convert the 73% non-subscriber base.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3092053"/>
            <a:ext cx="5283546" cy="2655246"/>
            <a:chOff x="0" y="0"/>
            <a:chExt cx="7044728" cy="35403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3111103"/>
            <a:ext cx="152400" cy="2617146"/>
            <a:chOff x="0" y="0"/>
            <a:chExt cx="203200" cy="3489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339462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Loyalty Programs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3940969"/>
            <a:ext cx="44879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Reward repeat buyers to retain and grow the Loyal segment.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3092053"/>
            <a:ext cx="5283546" cy="2655246"/>
            <a:chOff x="0" y="0"/>
            <a:chExt cx="7044728" cy="35403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3111103"/>
            <a:ext cx="152400" cy="2617146"/>
            <a:chOff x="0" y="0"/>
            <a:chExt cx="203200" cy="3489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3394624"/>
            <a:ext cx="376817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Review Discount Policy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3940969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Balance promotional discounts with margin control — especially for Hat, Sneakers, and Coat.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3188" y="5992711"/>
            <a:ext cx="5283546" cy="2655246"/>
            <a:chOff x="0" y="0"/>
            <a:chExt cx="7044728" cy="35403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4138" y="6011761"/>
            <a:ext cx="152400" cy="2617146"/>
            <a:chOff x="0" y="0"/>
            <a:chExt cx="203200" cy="3489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28159" y="62952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Product Positioning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8159" y="6841627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Highlight top-rated (Gloves, Sandals) and best-selling items in campaigns.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02156" y="5992711"/>
            <a:ext cx="5283546" cy="2655246"/>
            <a:chOff x="0" y="0"/>
            <a:chExt cx="7044728" cy="35403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83106" y="6011761"/>
            <a:ext cx="152400" cy="2617146"/>
            <a:chOff x="0" y="0"/>
            <a:chExt cx="203200" cy="34895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957117" y="62952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Targeted Marketing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57117" y="6841627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Focus on Young Adults and Express-shipping users — the highest-revenue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DAHIJsXJHzo</dc:identifier>
  <dcterms:modified xsi:type="dcterms:W3CDTF">2011-08-01T06:04:30Z</dcterms:modified>
  <cp:revision>1</cp:revision>
  <dc:title>Customer-Shopping-Behavior-Analysis.pptx</dc:title>
</cp:coreProperties>
</file>